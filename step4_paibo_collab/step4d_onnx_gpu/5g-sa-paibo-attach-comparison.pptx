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1695" cy="12984480"/>
  <p:notesSz cx="1298448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amber block is the RRC reconfiguration procedure. In the standard 3GPP attach it sits after the PDU Session Resource Setup Request, on the critical path, costing an RRCReconfiguration/Complete round trip before data can flow. In PAIBO the gNB predicts the likely DRB/s after UECapabilityInformation, configures them in CU and DU, and reconfigures the UE during registration, carrying the Registration Accept in the same message. When the real PDU Session Resource Setup Request arrives it usually matches the prediction, so only the PDU Session Establishment Accept goes out over DLInformationTransfer and data is ready one air-interface round trip sooner.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41248" y="457200"/>
            <a:ext cx="10515600" cy="548640"/>
          </a:xfrm>
          <a:prstGeom prst="rect">
            <a:avLst/>
          </a:prstGeom>
          <a:noFill/>
          <a:ln/>
        </p:spPr>
        <p:txBody>
          <a:bodyPr wrap="square" lIns="0" tIns="0" rIns="0" bIns="0" rtlCol="0" anchor="ctr"/>
          <a:lstStyle/>
          <a:p>
            <a:pPr indent="0" marL="0">
              <a:buNone/>
            </a:pPr>
            <a:r>
              <a:rPr lang="en-US" sz="3200" b="1" dirty="0">
                <a:solidFill>
                  <a:srgbClr val="21295C"/>
                </a:solidFill>
                <a:latin typeface="Calibri" pitchFamily="34" charset="0"/>
                <a:ea typeface="Calibri" pitchFamily="34" charset="-122"/>
                <a:cs typeface="Calibri" pitchFamily="34" charset="-120"/>
              </a:rPr>
              <a:t>PAIBO: data ready sooner with predicted DRB/s config</a:t>
            </a:r>
            <a:endParaRPr lang="en-US" sz="3200" dirty="0"/>
          </a:p>
        </p:txBody>
      </p:sp>
      <p:sp>
        <p:nvSpPr>
          <p:cNvPr id="3" name="Text 1"/>
          <p:cNvSpPr txBox="1"/>
          <p:nvPr/>
        </p:nvSpPr>
        <p:spPr>
          <a:xfrm>
            <a:off x="841248" y="1060704"/>
            <a:ext cx="10515600" cy="566928"/>
          </a:xfrm>
          <a:prstGeom prst="rect">
            <a:avLst/>
          </a:prstGeom>
          <a:noFill/>
          <a:ln/>
        </p:spPr>
        <p:txBody>
          <a:bodyPr wrap="square" lIns="0" tIns="0" rIns="0" bIns="0" rtlCol="0" anchor="ctr"/>
          <a:lstStyle/>
          <a:p>
            <a:pPr indent="0" marL="0">
              <a:buNone/>
            </a:pPr>
            <a:r>
              <a:rPr lang="en-US" sz="1450" dirty="0">
                <a:solidFill>
                  <a:srgbClr val="55606B"/>
                </a:solidFill>
                <a:latin typeface="Calibri" pitchFamily="34" charset="0"/>
                <a:ea typeface="Calibri" pitchFamily="34" charset="-122"/>
                <a:cs typeface="Calibri" pitchFamily="34" charset="-120"/>
              </a:rPr>
              <a:t>UE – gNB – Core. Both procedures reach the same end state; they differ only in when the DRB/s get configured. </a:t>
            </a:r>
            <a:pPr indent="0" marL="0">
              <a:buNone/>
            </a:pPr>
            <a:r>
              <a:rPr lang="en-US" sz="1450" b="1" dirty="0">
                <a:solidFill>
                  <a:srgbClr val="B45309"/>
                </a:solidFill>
                <a:latin typeface="Calibri" pitchFamily="34" charset="0"/>
                <a:ea typeface="Calibri" pitchFamily="34" charset="-122"/>
                <a:cs typeface="Calibri" pitchFamily="34" charset="-120"/>
              </a:rPr>
              <a:t>Amber marks the RRC reconfiguration procedure — watch where it sits in each flow.</a:t>
            </a:r>
            <a:endParaRPr lang="en-US" sz="1450" dirty="0"/>
          </a:p>
        </p:txBody>
      </p:sp>
      <p:sp>
        <p:nvSpPr>
          <p:cNvPr id="4" name="Text 2"/>
          <p:cNvSpPr txBox="1"/>
          <p:nvPr/>
        </p:nvSpPr>
        <p:spPr>
          <a:xfrm>
            <a:off x="384048" y="1810512"/>
            <a:ext cx="4736592" cy="274320"/>
          </a:xfrm>
          <a:prstGeom prst="rect">
            <a:avLst/>
          </a:prstGeom>
          <a:noFill/>
          <a:ln/>
        </p:spPr>
        <p:txBody>
          <a:bodyPr wrap="square" lIns="0" tIns="0" rIns="0" bIns="0" rtlCol="0" anchor="ctr"/>
          <a:lstStyle/>
          <a:p>
            <a:pPr algn="ctr" indent="0" marL="0">
              <a:buNone/>
            </a:pPr>
            <a:r>
              <a:rPr lang="en-US" sz="1900" b="1" dirty="0">
                <a:solidFill>
                  <a:srgbClr val="065A82"/>
                </a:solidFill>
                <a:latin typeface="Calibri" pitchFamily="34" charset="0"/>
                <a:ea typeface="Calibri" pitchFamily="34" charset="-122"/>
                <a:cs typeface="Calibri" pitchFamily="34" charset="-120"/>
              </a:rPr>
              <a:t>Standard 3GPP Attach Procedure</a:t>
            </a:r>
            <a:endParaRPr lang="en-US" sz="1900" dirty="0"/>
          </a:p>
        </p:txBody>
      </p:sp>
      <p:sp>
        <p:nvSpPr>
          <p:cNvPr id="5" name="Text 3"/>
          <p:cNvSpPr txBox="1"/>
          <p:nvPr/>
        </p:nvSpPr>
        <p:spPr>
          <a:xfrm>
            <a:off x="384048" y="2130552"/>
            <a:ext cx="4736592" cy="256032"/>
          </a:xfrm>
          <a:prstGeom prst="rect">
            <a:avLst/>
          </a:prstGeom>
          <a:noFill/>
          <a:ln/>
        </p:spPr>
        <p:txBody>
          <a:bodyPr wrap="square" lIns="0" tIns="0" rIns="0" bIns="0" rtlCol="0" anchor="ctr"/>
          <a:lstStyle/>
          <a:p>
            <a:pPr algn="ctr" indent="0" marL="0">
              <a:buNone/>
            </a:pPr>
            <a:r>
              <a:rPr lang="en-US" sz="1200" i="1" dirty="0">
                <a:solidFill>
                  <a:srgbClr val="55606B"/>
                </a:solidFill>
                <a:latin typeface="Calibri" pitchFamily="34" charset="0"/>
                <a:ea typeface="Calibri" pitchFamily="34" charset="-122"/>
                <a:cs typeface="Calibri" pitchFamily="34" charset="-120"/>
              </a:rPr>
              <a:t>DRB/s configured after the PDU session request</a:t>
            </a:r>
            <a:endParaRPr lang="en-US" sz="1200" dirty="0"/>
          </a:p>
        </p:txBody>
      </p:sp>
      <p:pic>
        <p:nvPicPr>
          <p:cNvPr id="6" name="Image 0" descr="base.png">    </p:cNvPr>
          <p:cNvPicPr>
            <a:picLocks noChangeAspect="1"/>
          </p:cNvPicPr>
          <p:nvPr/>
        </p:nvPicPr>
        <p:blipFill>
          <a:blip r:embed="rId1"/>
          <a:stretch>
            <a:fillRect/>
          </a:stretch>
        </p:blipFill>
        <p:spPr>
          <a:xfrm>
            <a:off x="841248" y="2514600"/>
            <a:ext cx="3822192" cy="9444838"/>
          </a:xfrm>
          <a:prstGeom prst="rect">
            <a:avLst/>
          </a:prstGeom>
        </p:spPr>
      </p:pic>
      <p:sp>
        <p:nvSpPr>
          <p:cNvPr id="7" name="Text 4"/>
          <p:cNvSpPr txBox="1"/>
          <p:nvPr/>
        </p:nvSpPr>
        <p:spPr>
          <a:xfrm>
            <a:off x="4864608" y="1810512"/>
            <a:ext cx="4736592" cy="274320"/>
          </a:xfrm>
          <a:prstGeom prst="rect">
            <a:avLst/>
          </a:prstGeom>
          <a:noFill/>
          <a:ln/>
        </p:spPr>
        <p:txBody>
          <a:bodyPr wrap="square" lIns="0" tIns="0" rIns="0" bIns="0" rtlCol="0" anchor="ctr"/>
          <a:lstStyle/>
          <a:p>
            <a:pPr algn="ctr" indent="0" marL="0">
              <a:buNone/>
            </a:pPr>
            <a:r>
              <a:rPr lang="en-US" sz="1900" b="1" dirty="0">
                <a:solidFill>
                  <a:srgbClr val="14713F"/>
                </a:solidFill>
                <a:latin typeface="Calibri" pitchFamily="34" charset="0"/>
                <a:ea typeface="Calibri" pitchFamily="34" charset="-122"/>
                <a:cs typeface="Calibri" pitchFamily="34" charset="-120"/>
              </a:rPr>
              <a:t>Proposed PAIBO Attach Procedure</a:t>
            </a:r>
            <a:endParaRPr lang="en-US" sz="1900" dirty="0"/>
          </a:p>
        </p:txBody>
      </p:sp>
      <p:sp>
        <p:nvSpPr>
          <p:cNvPr id="8" name="Text 5"/>
          <p:cNvSpPr txBox="1"/>
          <p:nvPr/>
        </p:nvSpPr>
        <p:spPr>
          <a:xfrm>
            <a:off x="4864608" y="2130552"/>
            <a:ext cx="4736592" cy="256032"/>
          </a:xfrm>
          <a:prstGeom prst="rect">
            <a:avLst/>
          </a:prstGeom>
          <a:noFill/>
          <a:ln/>
        </p:spPr>
        <p:txBody>
          <a:bodyPr wrap="square" lIns="0" tIns="0" rIns="0" bIns="0" rtlCol="0" anchor="ctr"/>
          <a:lstStyle/>
          <a:p>
            <a:pPr algn="ctr" indent="0" marL="0">
              <a:buNone/>
            </a:pPr>
            <a:r>
              <a:rPr lang="en-US" sz="1200" i="1" dirty="0">
                <a:solidFill>
                  <a:srgbClr val="55606B"/>
                </a:solidFill>
                <a:latin typeface="Calibri" pitchFamily="34" charset="0"/>
                <a:ea typeface="Calibri" pitchFamily="34" charset="-122"/>
                <a:cs typeface="Calibri" pitchFamily="34" charset="-120"/>
              </a:rPr>
              <a:t>DRB/s configured during registration, before the request</a:t>
            </a:r>
            <a:endParaRPr lang="en-US" sz="1200" dirty="0"/>
          </a:p>
        </p:txBody>
      </p:sp>
      <p:pic>
        <p:nvPicPr>
          <p:cNvPr id="9" name="Image 1" descr="pred.png">    </p:cNvPr>
          <p:cNvPicPr>
            <a:picLocks noChangeAspect="1"/>
          </p:cNvPicPr>
          <p:nvPr/>
        </p:nvPicPr>
        <p:blipFill>
          <a:blip r:embed="rId2"/>
          <a:stretch>
            <a:fillRect/>
          </a:stretch>
        </p:blipFill>
        <p:spPr>
          <a:xfrm>
            <a:off x="5321808" y="2514600"/>
            <a:ext cx="6035040" cy="9857232"/>
          </a:xfrm>
          <a:prstGeom prst="rect">
            <a:avLst/>
          </a:prstGeom>
        </p:spPr>
      </p:pic>
      <p:sp>
        <p:nvSpPr>
          <p:cNvPr id="10" name="Text 6"/>
          <p:cNvSpPr txBox="1"/>
          <p:nvPr/>
        </p:nvSpPr>
        <p:spPr>
          <a:xfrm>
            <a:off x="841248" y="12233758"/>
            <a:ext cx="4736592" cy="274320"/>
          </a:xfrm>
          <a:prstGeom prst="rect">
            <a:avLst/>
          </a:prstGeom>
          <a:noFill/>
          <a:ln/>
        </p:spPr>
        <p:txBody>
          <a:bodyPr wrap="square" lIns="0" tIns="0" rIns="0" bIns="0" rtlCol="0" anchor="ctr"/>
          <a:lstStyle/>
          <a:p>
            <a:pPr indent="0" marL="0">
              <a:buNone/>
            </a:pPr>
            <a:r>
              <a:rPr lang="en-US" sz="1100" i="1" dirty="0">
                <a:solidFill>
                  <a:srgbClr val="55606B"/>
                </a:solidFill>
                <a:latin typeface="Calibri" pitchFamily="34" charset="0"/>
                <a:ea typeface="Calibri" pitchFamily="34" charset="-122"/>
                <a:cs typeface="Calibri" pitchFamily="34" charset="-120"/>
              </a:rPr>
              <a:t>Diagrams are not drawn to time scale.</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2026-09-12T14:36:51Z</dcterms:created>
  <dcterms:modified xsi:type="dcterms:W3CDTF">2026-09-12T14:36:51Z</dcterms:modified>
</cp:coreProperties>
</file>